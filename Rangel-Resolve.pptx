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lbert Sans"/>
      <p:regular r:id="rId201314"/>
    </p:embeddedFont>
    <p:embeddedFont>
      <p:font typeface="Albert Sans Medium"/>
      <p:regular r:id="rId201315"/>
    </p:embeddedFont>
    <p:embeddedFont>
      <p:font typeface="Albert Sans SemiBold"/>
      <p:regular r:id="rId201316"/>
    </p:embeddedFont>
    <p:embeddedFont>
      <p:font typeface="Albert Sans Bold"/>
      <p:regular r:id="rId201317"/>
    </p:embeddedFont>
    <p:embeddedFont>
      <p:font typeface="Geologica SemiBold"/>
      <p:regular r:id="rId201318"/>
    </p:embeddedFont>
    <p:embeddedFont>
      <p:font typeface="Geologica Extra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tema, a área de aplicação e o propósito central: organizar problemas urbanos para melhorar o registo, a priorização e o acompanhamento.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dificuldade não está apenas em receber relatos. É também localizar, comparar, eliminar duplicados e manter o cidadão informado.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Delimitar o projecto. O sistema serve para organizar informação e encaminhar ocorrências, não para substituir as equipas que executam as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como a participação cidadã entra no sistema e como a georreferenciação transforma relatos isolados em informação analisável.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a ordem metodológica: diagnóstico, organização dos dados, requisitos, protótipo e testes. O projecto não deve apresentar como resultado aquilo que ainda não foi medido.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 ciclo completo. A principal diferença é tornar visível o que acontece depois da submissão e manter um histórico verificável.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as quatro camadas como partes separadas, mas ligadas. A modularidade permite testar o essencial antes de ampliar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pontuação torna a decisão auditável. O cálculo apoia a triagem, mas não substitui a avaliação humana em situações de perigo imediato.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 claramente entre o que se espera construir, a meta de capacidade e os limites ainda presentes. A validação com actores locais é a próxima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recomendação: validar primeiro, construir por fases e medir a capacidade em testes reais. A tecnologia apoia a resposta, mas não a substitui.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BEF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BEF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BEF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739458"/>
            <a:ext cx="87564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DEFESA ESCOLAR · PROJECTO TECNOLÓGICO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385491"/>
            <a:ext cx="8146846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spc="-108" kern="100" dirty="0">
                <a:solidFill>
                  <a:srgbClr val="FFFFFF"/>
                </a:solidFill>
                <a:latin typeface="Geologica ExtraBold" pitchFamily="34" charset="0"/>
                <a:ea typeface="Geologica ExtraBold" pitchFamily="34" charset="-122"/>
                <a:cs typeface="Geologica ExtraBold" pitchFamily="34" charset="-120"/>
              </a:rPr>
              <a:t>Rangel Resolve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5156" y="2460625"/>
            <a:ext cx="8146846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Plataforma digital georreferenciada para registo, priorização e acompanhamento de problemas urbanos no Município do Rangel, Luanda.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1182" y="3429000"/>
            <a:ext cx="8254793" cy="1304925"/>
          </a:xfrm>
          <a:prstGeom prst="roundRect">
            <a:avLst>
              <a:gd name="adj" fmla="val 2482"/>
            </a:avLst>
          </a:prstGeom>
          <a:solidFill>
            <a:srgbClr val="2B1B12"/>
          </a:solidFill>
          <a:ln/>
        </p:spPr>
      </p:sp>
      <p:sp>
        <p:nvSpPr>
          <p:cNvPr id="6" name="Text 4"/>
          <p:cNvSpPr/>
          <p:nvPr/>
        </p:nvSpPr>
        <p:spPr>
          <a:xfrm>
            <a:off x="888978" y="3556000"/>
            <a:ext cx="7899202" cy="105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Fernando Eduardo Quihamba Esteves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Técnico de Informática de Gestão · 13.ª classe · CTI · Sala 03</a:t>
            </a:r>
            <a:endParaRPr lang="en-US" sz="1250" dirty="0"/>
          </a:p>
          <a:p>
            <a:pPr algn="l" indent="0" marL="0">
              <a:lnSpc>
                <a:spcPct val="112000"/>
              </a:lnSpc>
              <a:spcAft>
                <a:spcPts val="1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Instituto Médio Comercial de Luanda · Ano lectivo 2026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Professor(a): informação não preenchida no documento.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914377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C4224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PONTO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8534187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2A1A1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Um problema urbano precisa de mais do que um relato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981375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57269" y="1985208"/>
            <a:ext cx="788650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Impacto no quotidiano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257269" y="2445544"/>
            <a:ext cx="7886503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Resíduos, drenagem obstruída, buracos, iluminação avariada, fugas de água e danos em infra-estruturas afectam circulação, segurança, saúde e bem-estar.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436715"/>
            <a:ext cx="431789" cy="43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57269" y="3440549"/>
            <a:ext cx="788650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Informação dispersa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257269" y="3900884"/>
            <a:ext cx="7886503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Quando os relatos estão dispersos, torna-se difícil localizar ocorrências, reconhecer duplicados, comparar gravidades e dar retorno.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892056"/>
            <a:ext cx="431789" cy="431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57269" y="4895890"/>
            <a:ext cx="788650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Registo comum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257269" y="5356225"/>
            <a:ext cx="7886503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proposta é criar um registo comum, localizado no mapa e com estado de acompanhamento.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9753356" y="0"/>
            <a:ext cx="2438339" cy="6858000"/>
          </a:xfrm>
          <a:prstGeom prst="rect">
            <a:avLst/>
          </a:prstGeom>
          <a:solidFill>
            <a:srgbClr val="FFF8D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2941" y="3159125"/>
            <a:ext cx="539736" cy="53975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09585" y="3201789"/>
            <a:ext cx="8534187" cy="12700"/>
          </a:xfrm>
          <a:prstGeom prst="rect">
            <a:avLst/>
          </a:prstGeom>
          <a:solidFill>
            <a:srgbClr val="8C6A2C"/>
          </a:solidFill>
          <a:ln/>
        </p:spPr>
      </p:sp>
      <p:sp>
        <p:nvSpPr>
          <p:cNvPr id="16" name="Shape 10"/>
          <p:cNvSpPr/>
          <p:nvPr/>
        </p:nvSpPr>
        <p:spPr>
          <a:xfrm>
            <a:off x="609585" y="4657130"/>
            <a:ext cx="8534187" cy="12700"/>
          </a:xfrm>
          <a:prstGeom prst="rect">
            <a:avLst/>
          </a:prstGeom>
          <a:solidFill>
            <a:srgbClr val="8C6A2C"/>
          </a:solidFill>
          <a:ln/>
        </p:spPr>
      </p:sp>
      <p:sp>
        <p:nvSpPr>
          <p:cNvPr id="17" name="Text 11"/>
          <p:cNvSpPr/>
          <p:nvPr/>
        </p:nvSpPr>
        <p:spPr>
          <a:xfrm>
            <a:off x="11808919" y="6451898"/>
            <a:ext cx="38277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C422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C4224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ÂMBITO DO PROJECTO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2A1A1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O projecto define um canal estruturado para o Rangel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64382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Uma área-piloto, vários participantes e um limite claro de responsabilidade.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071092"/>
            <a:ext cx="2514537" cy="3968552"/>
          </a:xfrm>
          <a:prstGeom prst="roundRect">
            <a:avLst>
              <a:gd name="adj" fmla="val 1288"/>
            </a:avLst>
          </a:prstGeom>
          <a:noFill/>
          <a:ln w="25399">
            <a:solidFill>
              <a:srgbClr val="D9CA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4984" y="2096492"/>
            <a:ext cx="2463738" cy="647700"/>
          </a:xfrm>
          <a:prstGeom prst="rect">
            <a:avLst/>
          </a:prstGeom>
          <a:solidFill>
            <a:srgbClr val="F3E4AE"/>
          </a:solidFill>
          <a:ln/>
        </p:spPr>
      </p:sp>
      <p:sp>
        <p:nvSpPr>
          <p:cNvPr id="7" name="Text 5"/>
          <p:cNvSpPr/>
          <p:nvPr/>
        </p:nvSpPr>
        <p:spPr>
          <a:xfrm>
            <a:off x="1814467" y="2258417"/>
            <a:ext cx="71425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3A2716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50879" y="2833727"/>
            <a:ext cx="20319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Área-piloto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879" y="3294063"/>
            <a:ext cx="2031949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Município do Rangel, Luanda.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28914" y="2071092"/>
            <a:ext cx="2514537" cy="3968552"/>
          </a:xfrm>
          <a:prstGeom prst="roundRect">
            <a:avLst>
              <a:gd name="adj" fmla="val 1288"/>
            </a:avLst>
          </a:prstGeom>
          <a:noFill/>
          <a:ln w="25399">
            <a:solidFill>
              <a:srgbClr val="D9CA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4314" y="2096492"/>
            <a:ext cx="2463738" cy="647700"/>
          </a:xfrm>
          <a:prstGeom prst="rect">
            <a:avLst/>
          </a:prstGeom>
          <a:solidFill>
            <a:srgbClr val="F3E4AE"/>
          </a:solidFill>
          <a:ln/>
        </p:spPr>
      </p:sp>
      <p:sp>
        <p:nvSpPr>
          <p:cNvPr id="12" name="Text 10"/>
          <p:cNvSpPr/>
          <p:nvPr/>
        </p:nvSpPr>
        <p:spPr>
          <a:xfrm>
            <a:off x="4589943" y="2258417"/>
            <a:ext cx="80196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3A2716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3670208" y="2833727"/>
            <a:ext cx="20319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Público-alvo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70208" y="3294063"/>
            <a:ext cx="2031949" cy="219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Moradores, comerciantes, associações comunitárias, operadores e responsáveis pelo encaminhamento.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48244" y="2071092"/>
            <a:ext cx="2514537" cy="3968552"/>
          </a:xfrm>
          <a:prstGeom prst="roundRect">
            <a:avLst>
              <a:gd name="adj" fmla="val 1288"/>
            </a:avLst>
          </a:prstGeom>
          <a:noFill/>
          <a:ln w="25399">
            <a:solidFill>
              <a:srgbClr val="D9CA9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3643" y="2096492"/>
            <a:ext cx="2463738" cy="647700"/>
          </a:xfrm>
          <a:prstGeom prst="rect">
            <a:avLst/>
          </a:prstGeom>
          <a:solidFill>
            <a:srgbClr val="F3E4AE"/>
          </a:solidFill>
          <a:ln/>
        </p:spPr>
      </p:sp>
      <p:sp>
        <p:nvSpPr>
          <p:cNvPr id="17" name="Text 15"/>
          <p:cNvSpPr/>
          <p:nvPr/>
        </p:nvSpPr>
        <p:spPr>
          <a:xfrm>
            <a:off x="7408975" y="2258417"/>
            <a:ext cx="80266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3A2716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6489538" y="2833727"/>
            <a:ext cx="20319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Objectivo geral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89538" y="3294063"/>
            <a:ext cx="2031949" cy="250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Conceber uma plataforma web georreferenciada para registar, priorizar, encaminhar e acompanhar ocorrências.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067573" y="2071092"/>
            <a:ext cx="2514537" cy="3968552"/>
          </a:xfrm>
          <a:prstGeom prst="roundRect">
            <a:avLst>
              <a:gd name="adj" fmla="val 1288"/>
            </a:avLst>
          </a:prstGeom>
          <a:noFill/>
          <a:ln w="25399">
            <a:solidFill>
              <a:srgbClr val="D9CA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2973" y="2096492"/>
            <a:ext cx="2463738" cy="647700"/>
          </a:xfrm>
          <a:prstGeom prst="rect">
            <a:avLst/>
          </a:prstGeom>
          <a:solidFill>
            <a:srgbClr val="F3E4AE"/>
          </a:solidFill>
          <a:ln/>
        </p:spPr>
      </p:sp>
      <p:sp>
        <p:nvSpPr>
          <p:cNvPr id="22" name="Text 20"/>
          <p:cNvSpPr/>
          <p:nvPr/>
        </p:nvSpPr>
        <p:spPr>
          <a:xfrm>
            <a:off x="10218879" y="2258417"/>
            <a:ext cx="82141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3A2716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4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308867" y="2833727"/>
            <a:ext cx="20319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Limite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08867" y="3294063"/>
            <a:ext cx="2031949" cy="187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plataforma organiza informação; não executa obras nem garante, por si só, a reparação.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809216" y="6451898"/>
            <a:ext cx="3824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C422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C4224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MODELO DE INFORMAÇÃO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2A1A1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A proposta combina participação cidadã e informação geográfica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19498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582108"/>
            <a:ext cx="251453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Ocorrência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585" y="3042444"/>
            <a:ext cx="2514537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Categoria, descrição, data, localização, evidência opcional e estado.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10" y="2019498"/>
            <a:ext cx="431789" cy="43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81310" y="2582108"/>
            <a:ext cx="228594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Mapa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581310" y="3042444"/>
            <a:ext cx="2285943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Visualizar concentrações, pesquisar zonas e apoiar a análise das necessidades.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2" y="2019498"/>
            <a:ext cx="431789" cy="431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4442" y="2582108"/>
            <a:ext cx="228594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Referências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324442" y="3042444"/>
            <a:ext cx="2285943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FixMyStreet, SeeClickFix, Ushahidi e Open311/GeoReport.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573" y="2019498"/>
            <a:ext cx="431789" cy="431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67573" y="2582108"/>
            <a:ext cx="251453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Adaptação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067573" y="3042444"/>
            <a:ext cx="2514537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Rastreabilidade e uma camada explícita de priorização.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09585" y="4040684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422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As referências são funcionais e técnicas, não provas de resultados no Rangel.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346366" y="2019498"/>
            <a:ext cx="12700" cy="1823938"/>
          </a:xfrm>
          <a:prstGeom prst="rect">
            <a:avLst/>
          </a:prstGeom>
          <a:solidFill>
            <a:srgbClr val="8C6A2C"/>
          </a:solidFill>
          <a:ln/>
        </p:spPr>
      </p:sp>
      <p:sp>
        <p:nvSpPr>
          <p:cNvPr id="18" name="Shape 12"/>
          <p:cNvSpPr/>
          <p:nvPr/>
        </p:nvSpPr>
        <p:spPr>
          <a:xfrm>
            <a:off x="6089498" y="2019498"/>
            <a:ext cx="12700" cy="1823938"/>
          </a:xfrm>
          <a:prstGeom prst="rect">
            <a:avLst/>
          </a:prstGeom>
          <a:solidFill>
            <a:srgbClr val="8C6A2C"/>
          </a:solidFill>
          <a:ln/>
        </p:spPr>
      </p:sp>
      <p:sp>
        <p:nvSpPr>
          <p:cNvPr id="19" name="Shape 13"/>
          <p:cNvSpPr/>
          <p:nvPr/>
        </p:nvSpPr>
        <p:spPr>
          <a:xfrm>
            <a:off x="8832629" y="2019498"/>
            <a:ext cx="12700" cy="1823938"/>
          </a:xfrm>
          <a:prstGeom prst="rect">
            <a:avLst/>
          </a:prstGeom>
          <a:solidFill>
            <a:srgbClr val="8C6A2C"/>
          </a:solidFill>
          <a:ln/>
        </p:spPr>
      </p:sp>
      <p:sp>
        <p:nvSpPr>
          <p:cNvPr id="20" name="Text 14"/>
          <p:cNvSpPr/>
          <p:nvPr/>
        </p:nvSpPr>
        <p:spPr>
          <a:xfrm>
            <a:off x="11801378" y="6451898"/>
            <a:ext cx="39031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C422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C4224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MÉTODO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5271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investigação parte do diagnóstico antes da implementação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460401"/>
            <a:ext cx="539736" cy="539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197636"/>
            <a:ext cx="53338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Definir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585" y="2657971"/>
            <a:ext cx="533386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Perguntas, categorias e critérios de participação.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244" y="1460401"/>
            <a:ext cx="539736" cy="539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48244" y="2197636"/>
            <a:ext cx="53338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Investigar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248244" y="2657971"/>
            <a:ext cx="533386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Propor questionários, entrevistas e observação de campo, mediante autorização.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551932"/>
            <a:ext cx="539736" cy="539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585" y="4289167"/>
            <a:ext cx="53338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Organizar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09585" y="4749502"/>
            <a:ext cx="533386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Recolher e anonimizar os dados; organizar categorias, dificuldades e necessidades.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3551932"/>
            <a:ext cx="539736" cy="539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48244" y="4289167"/>
            <a:ext cx="53338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Construir e testar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248244" y="4749502"/>
            <a:ext cx="5333867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Converter os resultados em requisitos e construir um protótipo navegável; testar usabilidade, segurança, acessibilidade e carga. Apresentar apenas resultados efectivamente medidos.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1805744" y="6451898"/>
            <a:ext cx="38595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C422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C4224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CICLO DE VIDA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2A1A1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Do relato ao acompanhamento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64382"/>
            <a:ext cx="6793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B8301B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1869817"/>
            <a:ext cx="541006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Relatar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2330152"/>
            <a:ext cx="541006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 cidadão escolhe a categoria, descreve o problema, indica a localização e pode anexar fotografia.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72046" y="1564382"/>
            <a:ext cx="73787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B8301B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72046" y="1869817"/>
            <a:ext cx="541006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Registar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72046" y="2330152"/>
            <a:ext cx="541006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 sistema gera um código único, procura possíveis duplicados e guarda o estado “Recebido”.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9585" y="3108623"/>
            <a:ext cx="73826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B8301B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585" y="3414058"/>
            <a:ext cx="541006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Priorizar e encaminhar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585" y="3874393"/>
            <a:ext cx="541006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API valida os dados, calcula a prioridade e encaminha o pedido para a equipa competente.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172046" y="3108623"/>
            <a:ext cx="75086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B8301B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172046" y="3414058"/>
            <a:ext cx="541006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Acompanhar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72046" y="3874393"/>
            <a:ext cx="541006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 cidadão consulta o estado; o histórico regista alterações, responsáveis e motivos.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9585" y="4697710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422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Estados propostos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9585" y="5102126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2716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Recebido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→ Em verificação → Validado → Encaminhado → Em execução → </a:t>
            </a:r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2716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Resolvido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809216" y="6451898"/>
            <a:ext cx="3824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C422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C4224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ARQUITECTURA PROPOSTA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2A1A1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Uma arquitectura modular permite evoluir o protótipo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64382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implementação pode começar simples e incorporar componentes avançados por fases.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71092"/>
            <a:ext cx="6547381" cy="3682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960765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422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Primeiro: formulário, mapa e base simples. Depois: componentes avançados.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815169" y="6451898"/>
            <a:ext cx="37652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C422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487667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C4224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CRITÉRIO DE DECISÃO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4267093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2A1A1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A prioridade deve ser explicável, não apenas cronológica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52390"/>
            <a:ext cx="4267093" cy="7433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285034"/>
            <a:ext cx="48766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422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De 0 a 100 pontos.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09585" y="3689449"/>
            <a:ext cx="426709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2716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S — Gravidade: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até 40 pontos.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09585" y="4413647"/>
            <a:ext cx="426709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2716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A — Pessoas afectadas: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até 25 pontos.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9585" y="5137845"/>
            <a:ext cx="426709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2716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U — Exposição/local sensível: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até 20 pontos.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9585" y="5862042"/>
            <a:ext cx="4267093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2716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T — Tempo de espera: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até 10 pontos; </a:t>
            </a:r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2716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C — Confirmações: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até 5 pontos.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263" y="0"/>
            <a:ext cx="6705432" cy="6858000"/>
          </a:xfrm>
          <a:prstGeom prst="rect">
            <a:avLst/>
          </a:prstGeom>
          <a:solidFill>
            <a:srgbClr val="FFF8DE"/>
          </a:solidFill>
          <a:ln/>
        </p:spPr>
      </p:sp>
      <p:sp>
        <p:nvSpPr>
          <p:cNvPr id="11" name="Text 8"/>
          <p:cNvSpPr/>
          <p:nvPr/>
        </p:nvSpPr>
        <p:spPr>
          <a:xfrm>
            <a:off x="6095848" y="2543651"/>
            <a:ext cx="609584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A2716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ESCALÕES PROPOSTOS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2932509"/>
            <a:ext cx="5486263" cy="138469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9585" y="4178697"/>
            <a:ext cx="4267093" cy="12700"/>
          </a:xfrm>
          <a:prstGeom prst="rect">
            <a:avLst/>
          </a:prstGeom>
          <a:solidFill>
            <a:srgbClr val="8C6A2C"/>
          </a:solidFill>
          <a:ln/>
        </p:spPr>
      </p:sp>
      <p:sp>
        <p:nvSpPr>
          <p:cNvPr id="14" name="Shape 10"/>
          <p:cNvSpPr/>
          <p:nvPr/>
        </p:nvSpPr>
        <p:spPr>
          <a:xfrm>
            <a:off x="609585" y="4902895"/>
            <a:ext cx="4267093" cy="12700"/>
          </a:xfrm>
          <a:prstGeom prst="rect">
            <a:avLst/>
          </a:prstGeom>
          <a:solidFill>
            <a:srgbClr val="8C6A2C"/>
          </a:solidFill>
          <a:ln/>
        </p:spPr>
      </p:sp>
      <p:sp>
        <p:nvSpPr>
          <p:cNvPr id="15" name="Shape 11"/>
          <p:cNvSpPr/>
          <p:nvPr/>
        </p:nvSpPr>
        <p:spPr>
          <a:xfrm>
            <a:off x="609585" y="5627092"/>
            <a:ext cx="4267093" cy="12700"/>
          </a:xfrm>
          <a:prstGeom prst="rect">
            <a:avLst/>
          </a:prstGeom>
          <a:solidFill>
            <a:srgbClr val="8C6A2C"/>
          </a:solidFill>
          <a:ln/>
        </p:spPr>
      </p:sp>
      <p:sp>
        <p:nvSpPr>
          <p:cNvPr id="16" name="Text 12"/>
          <p:cNvSpPr/>
          <p:nvPr/>
        </p:nvSpPr>
        <p:spPr>
          <a:xfrm>
            <a:off x="11804553" y="6451898"/>
            <a:ext cx="38714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C422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C4224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O QUE A PROPOSTA ENTREGA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2A1A1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Resultados esperados e limites a reconhecer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64382"/>
            <a:ext cx="3454314" cy="1722338"/>
          </a:xfrm>
          <a:prstGeom prst="roundRect">
            <a:avLst>
              <a:gd name="adj" fmla="val 1880"/>
            </a:avLst>
          </a:prstGeom>
          <a:solidFill>
            <a:srgbClr val="F3E4AE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1796792"/>
            <a:ext cx="29971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Protótipo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79" y="2257127"/>
            <a:ext cx="2997125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Submissão georreferenciada, código de referência, mapa filtrável e painel de gestão.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68691" y="1564382"/>
            <a:ext cx="3454314" cy="1722338"/>
          </a:xfrm>
          <a:prstGeom prst="roundRect">
            <a:avLst>
              <a:gd name="adj" fmla="val 1880"/>
            </a:avLst>
          </a:prstGeom>
          <a:solidFill>
            <a:srgbClr val="F3E4AE"/>
          </a:solidFill>
          <a:ln/>
        </p:spPr>
      </p:sp>
      <p:sp>
        <p:nvSpPr>
          <p:cNvPr id="8" name="Text 6"/>
          <p:cNvSpPr/>
          <p:nvPr/>
        </p:nvSpPr>
        <p:spPr>
          <a:xfrm>
            <a:off x="4597285" y="1796792"/>
            <a:ext cx="29971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Transparência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97285" y="2257127"/>
            <a:ext cx="299712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Prioridade transparente, validação humana e histórico de alterações.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27797" y="1564382"/>
            <a:ext cx="3454314" cy="1722338"/>
          </a:xfrm>
          <a:prstGeom prst="roundRect">
            <a:avLst>
              <a:gd name="adj" fmla="val 1880"/>
            </a:avLst>
          </a:prstGeom>
          <a:solidFill>
            <a:srgbClr val="F3E4AE"/>
          </a:solidFill>
          <a:ln/>
        </p:spPr>
      </p:sp>
      <p:sp>
        <p:nvSpPr>
          <p:cNvPr id="11" name="Text 9"/>
          <p:cNvSpPr/>
          <p:nvPr/>
        </p:nvSpPr>
        <p:spPr>
          <a:xfrm>
            <a:off x="8356391" y="1796792"/>
            <a:ext cx="29971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2A1A1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Meta a verificar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56391" y="2257127"/>
            <a:ext cx="2997125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Testar progressivamente até 500 utilizadores virtuais. É uma meta, não um resultado demonstrado.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09585" y="3480395"/>
            <a:ext cx="5333867" cy="1583234"/>
          </a:xfrm>
          <a:prstGeom prst="roundRect">
            <a:avLst>
              <a:gd name="adj" fmla="val 2045"/>
            </a:avLst>
          </a:prstGeom>
          <a:solidFill>
            <a:srgbClr val="F3E4AE"/>
          </a:solidFill>
          <a:ln/>
        </p:spPr>
      </p:sp>
      <p:sp>
        <p:nvSpPr>
          <p:cNvPr id="14" name="Text 12"/>
          <p:cNvSpPr/>
          <p:nvPr/>
        </p:nvSpPr>
        <p:spPr>
          <a:xfrm>
            <a:off x="838179" y="3711853"/>
            <a:ext cx="51052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C4224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LIMITES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8179" y="4034036"/>
            <a:ext cx="487667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Possível ausência de ligação a sistemas municipais reais, imprecisão de localização, erros de classificação e dependência de equipas responsáveis.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48244" y="3480395"/>
            <a:ext cx="5333867" cy="1583234"/>
          </a:xfrm>
          <a:prstGeom prst="roundRect">
            <a:avLst>
              <a:gd name="adj" fmla="val 2045"/>
            </a:avLst>
          </a:prstGeom>
          <a:noFill/>
          <a:ln w="25399">
            <a:solidFill>
              <a:srgbClr val="D9CA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2237" y="3737253"/>
            <a:ext cx="507987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C4224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PRÓXIMA ETAPA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02237" y="4059436"/>
            <a:ext cx="4825879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27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Validar o problema com moradores e actores locais e avaliar o protótipo.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09216" y="6451898"/>
            <a:ext cx="3824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C422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63216"/>
            <a:ext cx="10972526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FFFFFF"/>
                </a:solidFill>
                <a:latin typeface="Geologica ExtraBold" pitchFamily="34" charset="0"/>
                <a:ea typeface="Geologica ExtraBold" pitchFamily="34" charset="-122"/>
                <a:cs typeface="Geologica ExtraBold" pitchFamily="34" charset="-120"/>
              </a:rPr>
              <a:t>Organizar a informação para melhorar a resposta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609585" y="2531666"/>
            <a:ext cx="10972526" cy="939800"/>
          </a:xfrm>
          <a:prstGeom prst="rect">
            <a:avLst/>
          </a:prstGeom>
          <a:solidFill>
            <a:srgbClr val="FFF8DE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633266"/>
            <a:ext cx="10515337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 Rangel Resolve propõe um canal estruturado para registar, localizar, priorizar e acompanhar problemas urbanos.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3665141"/>
            <a:ext cx="5333867" cy="1142305"/>
          </a:xfrm>
          <a:prstGeom prst="rect">
            <a:avLst/>
          </a:prstGeom>
          <a:solidFill>
            <a:srgbClr val="FFF8DE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3766741"/>
            <a:ext cx="487667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 contributo central é juntar georreferenciação, estados visíveis, histórico e critérios de prioridade explicáveis.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48244" y="3665141"/>
            <a:ext cx="5333867" cy="1142305"/>
          </a:xfrm>
          <a:prstGeom prst="rect">
            <a:avLst/>
          </a:prstGeom>
          <a:solidFill>
            <a:srgbClr val="FFF8DE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8" y="3766741"/>
            <a:ext cx="487667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tecnologia apoia a gestão e a participação, mas depende de privacidade, acessibilidade, dados de qualidade e colaboração institucional.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9585" y="5036046"/>
            <a:ext cx="10972526" cy="829270"/>
          </a:xfrm>
          <a:prstGeom prst="rect">
            <a:avLst/>
          </a:prstGeom>
          <a:solidFill>
            <a:srgbClr val="FFF8DE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5137646"/>
            <a:ext cx="1051533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Recomendação: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validar o diagnóstico, construir o protótipo por fases e confirmar a capacidade através de testes reais.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2026-10-20T15:31:52Z</dcterms:created>
  <dcterms:modified xsi:type="dcterms:W3CDTF">2026-10-20T15:31:52Z</dcterms:modified>
</cp:coreProperties>
</file>